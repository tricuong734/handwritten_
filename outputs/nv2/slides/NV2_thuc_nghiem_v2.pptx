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9dd1c23824592" /><Relationship Type="http://schemas.openxmlformats.org/officeDocument/2006/relationships/extended-properties" Target="/docProps/app.xml" Id="R3f240f86a5f849d1" /><Relationship Type="http://schemas.openxmlformats.org/officeDocument/2006/relationships/officeDocument" Target="/ppt/presentation.xml" Id="R811dcb7249f3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8694e5fed4185"/>
  </p:sldMasterIdLst>
  <p:notesMasterIdLst>
    <p:notesMasterId xmlns:r="http://schemas.openxmlformats.org/officeDocument/2006/relationships" r:id="R45e05e48abc14e58"/>
  </p:notesMasterIdLst>
  <p:sldIdLst>
    <p:sldId xmlns:r="http://schemas.openxmlformats.org/officeDocument/2006/relationships" id="256" r:id="Rd6e65db4363f4027"/>
    <p:sldId xmlns:r="http://schemas.openxmlformats.org/officeDocument/2006/relationships" id="257" r:id="Rdc7177a7d93b4dcc"/>
    <p:sldId xmlns:r="http://schemas.openxmlformats.org/officeDocument/2006/relationships" id="258" r:id="R14c55f74768c498a"/>
    <p:sldId xmlns:r="http://schemas.openxmlformats.org/officeDocument/2006/relationships" id="259" r:id="R97d119792fe94f9b"/>
    <p:sldId xmlns:r="http://schemas.openxmlformats.org/officeDocument/2006/relationships" id="260" r:id="R24d0e95ce2954738"/>
    <p:sldId xmlns:r="http://schemas.openxmlformats.org/officeDocument/2006/relationships" id="261" r:id="R020cabf047764890"/>
    <p:sldId xmlns:r="http://schemas.openxmlformats.org/officeDocument/2006/relationships" id="262" r:id="R85a4e6732c6d4243"/>
    <p:sldId xmlns:r="http://schemas.openxmlformats.org/officeDocument/2006/relationships" id="263" r:id="Rdf39ec8fa0904a04"/>
    <p:sldId xmlns:r="http://schemas.openxmlformats.org/officeDocument/2006/relationships" id="264" r:id="R2c72b2da3d9f47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1026c10d50421b" /><Relationship Type="http://schemas.openxmlformats.org/officeDocument/2006/relationships/slideMaster" Target="/ppt/slideMasters/slideMaster1.xml" Id="R9e58694e5fed4185" /><Relationship Type="http://schemas.openxmlformats.org/officeDocument/2006/relationships/notesMaster" Target="/ppt/notesMasters/notesMaster1.xml" Id="R45e05e48abc14e58" /><Relationship Type="http://schemas.openxmlformats.org/officeDocument/2006/relationships/presProps" Target="/ppt/presProps.xml" Id="Re46ba62600214c21" /><Relationship Type="http://schemas.openxmlformats.org/officeDocument/2006/relationships/tableStyles" Target="/ppt/tableStyles.xml" Id="Ree3bf4e3c51b46a3" /><Relationship Type="http://schemas.openxmlformats.org/officeDocument/2006/relationships/slide" Target="/ppt/slides/slide1.xml" Id="Rd6e65db4363f4027" /><Relationship Type="http://schemas.openxmlformats.org/officeDocument/2006/relationships/slide" Target="/ppt/slides/slide2.xml" Id="Rdc7177a7d93b4dcc" /><Relationship Type="http://schemas.openxmlformats.org/officeDocument/2006/relationships/slide" Target="/ppt/slides/slide3.xml" Id="R14c55f74768c498a" /><Relationship Type="http://schemas.openxmlformats.org/officeDocument/2006/relationships/slide" Target="/ppt/slides/slide4.xml" Id="R97d119792fe94f9b" /><Relationship Type="http://schemas.openxmlformats.org/officeDocument/2006/relationships/slide" Target="/ppt/slides/slide5.xml" Id="R24d0e95ce2954738" /><Relationship Type="http://schemas.openxmlformats.org/officeDocument/2006/relationships/slide" Target="/ppt/slides/slide6.xml" Id="R020cabf047764890" /><Relationship Type="http://schemas.openxmlformats.org/officeDocument/2006/relationships/slide" Target="/ppt/slides/slide7.xml" Id="R85a4e6732c6d4243" /><Relationship Type="http://schemas.openxmlformats.org/officeDocument/2006/relationships/slide" Target="/ppt/slides/slide8.xml" Id="Rdf39ec8fa0904a04" /><Relationship Type="http://schemas.openxmlformats.org/officeDocument/2006/relationships/slide" Target="/ppt/slides/slide9.xml" Id="R2c72b2da3d9f47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938b66c78b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60df5349254e70" /><Relationship Type="http://schemas.openxmlformats.org/officeDocument/2006/relationships/notesMaster" Target="/ppt/notesMasters/notesMaster1.xml" Id="Rfe6b1af3667747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20fdeadf0f4c2d" /><Relationship Type="http://schemas.openxmlformats.org/officeDocument/2006/relationships/notesMaster" Target="/ppt/notesMasters/notesMaster1.xml" Id="Rd000294c48e441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b08e60c1c41b8" /><Relationship Type="http://schemas.openxmlformats.org/officeDocument/2006/relationships/notesMaster" Target="/ppt/notesMasters/notesMaster1.xml" Id="Re627307f4f0e44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8bb657511a4daf" /><Relationship Type="http://schemas.openxmlformats.org/officeDocument/2006/relationships/notesMaster" Target="/ppt/notesMasters/notesMaster1.xml" Id="R8b3c9fa3ab144e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0b071a48634ed5" /><Relationship Type="http://schemas.openxmlformats.org/officeDocument/2006/relationships/notesMaster" Target="/ppt/notesMasters/notesMaster1.xml" Id="R6cd2e800bb0647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ab62a1d5ac4279" /><Relationship Type="http://schemas.openxmlformats.org/officeDocument/2006/relationships/notesMaster" Target="/ppt/notesMasters/notesMaster1.xml" Id="R666ee77e3b1643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ba16468e334bb5" /><Relationship Type="http://schemas.openxmlformats.org/officeDocument/2006/relationships/notesMaster" Target="/ppt/notesMasters/notesMaster1.xml" Id="R7b1d06f3770547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9176006d854ccd" /><Relationship Type="http://schemas.openxmlformats.org/officeDocument/2006/relationships/notesMaster" Target="/ppt/notesMasters/notesMaster1.xml" Id="R15ffeba50c9a4f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6a8040d6cc40a1" /><Relationship Type="http://schemas.openxmlformats.org/officeDocument/2006/relationships/notesMaster" Target="/ppt/notesMasters/notesMaster1.xml" Id="R610db3b108c6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Phần thực nghiệm NV2, không bao gồm lý thuyết. CNN và demo toàn nhóm chưa được bàn giao. Nguồn: outputs/nv2/config.json.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outputs/nv2/config.json, selection.json, */training.json và */test_metrics.json.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outputs/nv2/config.json, selection.json, */training.json và */test_metrics.json. Chi tiết đầy đủ từng fold/cấu hình nằm trong */cv_results.csv.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outputs/nv2/config.json, selection.json, */training.json và */test_metrics.json. Dữ liệu nguồn đã từng dùng trong các thí nghiệm cũ. Test được giữ riêng trong lần chạy mới; không phải đánh giá ngoài tập hoàn toàn mới.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outputs/nv2/config.json, selection.json, */training.json và */test_metrics.json.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outputs/nv2/config.json, selection.json, */training.json và */test_metrics.json.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outputs/nv2/config.json, selection.json, */training.json và */test_metrics.json. Nguồn: svm_rbf/test_confusion_matrix.csv. Hàng là nhãn thật, cột là dự đoán.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outputs/nv2/config.json, selection.json, */training.json và */test_metrics.json. Nguồn: svm_rbf/misclassified.png và misclassified.csv. Giả thuyết nguyên nhân cần kiểm chứng bằng thí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outputs/nv2/config.json, selection.json, */training.json và */test_metrics.json.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34eb24bdf43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eb3b8c85945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196fb736149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1d32b940b40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eb0df869a4e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ee48d520149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2AB5E1-6C42-41F2-91D8-DCA8547C6E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55FDC4-1988-455B-9E95-D179D1B4FA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97D09A-4371-4BBF-A89F-443F523F3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3EB43F-06C3-4576-9B55-F0B2FDCCA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566029-5E65-481D-BDD7-EEF78091EE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B6FFE0-EC4E-4762-9CAE-F6C6939F9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6E50EC-5D23-4813-BC3B-02B6FC6A00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B6A2C6-26D6-48D1-A6EE-31B9AEF9F2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40F88F-5783-4C0D-B12E-5AF7EBFBB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CB3D62-964B-41A6-91BA-885E0B2F8E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17d6f1e3a243c2" /><Relationship Type="http://schemas.openxmlformats.org/officeDocument/2006/relationships/slideLayout" Target="/ppt/slideLayouts/slideLayout1.xml" Id="Ra1a83e590a61426b" /><Relationship Type="http://schemas.openxmlformats.org/officeDocument/2006/relationships/slideLayout" Target="/ppt/slideLayouts/slideLayout2.xml" Id="R573e804e581a46e8" /><Relationship Type="http://schemas.openxmlformats.org/officeDocument/2006/relationships/slideLayout" Target="/ppt/slideLayouts/slideLayout3.xml" Id="R592275eb006b4c42" /><Relationship Type="http://schemas.openxmlformats.org/officeDocument/2006/relationships/slideLayout" Target="/ppt/slideLayouts/slideLayout4.xml" Id="Ra414efb0fdf3434a" /><Relationship Type="http://schemas.openxmlformats.org/officeDocument/2006/relationships/slideLayout" Target="/ppt/slideLayouts/slideLayout5.xml" Id="R7b9a009a31384760" /><Relationship Type="http://schemas.openxmlformats.org/officeDocument/2006/relationships/slideLayout" Target="/ppt/slideLayouts/slideLayout6.xml" Id="Rb07147039d2447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a83e590a61426b"/>
    <p:sldLayoutId xmlns:r="http://schemas.openxmlformats.org/officeDocument/2006/relationships" id="2147483650" r:id="R573e804e581a46e8"/>
    <p:sldLayoutId xmlns:r="http://schemas.openxmlformats.org/officeDocument/2006/relationships" id="2147483651" r:id="R592275eb006b4c42"/>
    <p:sldLayoutId xmlns:r="http://schemas.openxmlformats.org/officeDocument/2006/relationships" id="2147483652" r:id="Ra414efb0fdf3434a"/>
    <p:sldLayoutId xmlns:r="http://schemas.openxmlformats.org/officeDocument/2006/relationships" id="2147483653" r:id="R7b9a009a31384760"/>
    <p:sldLayoutId xmlns:r="http://schemas.openxmlformats.org/officeDocument/2006/relationships" id="2147483654" r:id="Rb07147039d2447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ecfb7756b4250" /><Relationship Type="http://schemas.openxmlformats.org/officeDocument/2006/relationships/notesSlide" Target="/ppt/notesSlides/notesSlide1.xml" Id="R2c6c3e23b6ad49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4848699594bee" /><Relationship Type="http://schemas.openxmlformats.org/officeDocument/2006/relationships/notesSlide" Target="/ppt/notesSlides/notesSlide2.xml" Id="Rc1ab9a142abe4b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d6a64646444a7" /><Relationship Type="http://schemas.openxmlformats.org/officeDocument/2006/relationships/notesSlide" Target="/ppt/notesSlides/notesSlide3.xml" Id="R6e3ca831c7af41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11f1c77524489" /><Relationship Type="http://schemas.openxmlformats.org/officeDocument/2006/relationships/chart" Target="/ppt/slides/charts/chart1.xml" Id="R2869baa0da394069" /><Relationship Type="http://schemas.openxmlformats.org/officeDocument/2006/relationships/notesSlide" Target="/ppt/notesSlides/notesSlide4.xml" Id="R721a335367d446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9e1c387024eb2" /><Relationship Type="http://schemas.openxmlformats.org/officeDocument/2006/relationships/notesSlide" Target="/ppt/notesSlides/notesSlide5.xml" Id="R1ebddaec282f43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93c4cf4e84b81" /><Relationship Type="http://schemas.openxmlformats.org/officeDocument/2006/relationships/notesSlide" Target="/ppt/notesSlides/notesSlide6.xml" Id="Ree8dc43f0cc94f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49f196d244793" /><Relationship Type="http://schemas.openxmlformats.org/officeDocument/2006/relationships/notesSlide" Target="/ppt/notesSlides/notesSlide7.xml" Id="R3c8921e27f9b48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bcbbfc8d14678" /><Relationship Type="http://schemas.openxmlformats.org/officeDocument/2006/relationships/image" Target="/ppt/media/image.png" Id="R6197967f47074081" /><Relationship Type="http://schemas.openxmlformats.org/officeDocument/2006/relationships/notesSlide" Target="/ppt/notesSlides/notesSlide8.xml" Id="Rbfcb720a2aba48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8e2639fd441a8" /><Relationship Type="http://schemas.openxmlformats.org/officeDocument/2006/relationships/notesSlide" Target="/ppt/notesSlides/notesSlide9.xml" Id="Rf2bbb244775144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</c:v>
          </c:tx>
          <c:spPr>
            <a:solidFill xmlns:a="http://schemas.openxmlformats.org/drawingml/2006/main">
              <a:srgbClr val="9BB8C7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Logistic Regression</c:v>
                </c:pt>
                <c:pt idx="1">
                  <c:v>KNN</c:v>
                </c:pt>
                <c:pt idx="2">
                  <c:v>SVM linear</c:v>
                </c:pt>
                <c:pt idx="3">
                  <c:v>SVM RBF</c:v>
                </c:pt>
                <c:pt idx="4">
                  <c:v>Random Forest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0.92</c:v>
                </c:pt>
                <c:pt idx="1">
                  <c:v>0.964603</c:v>
                </c:pt>
                <c:pt idx="2">
                  <c:v>0.938095</c:v>
                </c:pt>
                <c:pt idx="3">
                  <c:v>0.979048</c:v>
                </c:pt>
                <c:pt idx="4">
                  <c:v>0.962381</c:v>
                </c:pt>
              </c:numCache>
            </c:numRef>
          </c:val>
        </c:ser>
        <c:ser>
          <c:idx val="1"/>
          <c:order val="1"/>
          <c:tx>
            <c:v>Test</c:v>
          </c:tx>
          <c:spPr>
            <a:solidFill xmlns:a="http://schemas.openxmlformats.org/drawingml/2006/main">
              <a:srgbClr val="176586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Logistic Regression</c:v>
                </c:pt>
                <c:pt idx="1">
                  <c:v>KNN</c:v>
                </c:pt>
                <c:pt idx="2">
                  <c:v>SVM linear</c:v>
                </c:pt>
                <c:pt idx="3">
                  <c:v>SVM RBF</c:v>
                </c:pt>
                <c:pt idx="4">
                  <c:v>Random Forest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0.914286</c:v>
                </c:pt>
                <c:pt idx="1">
                  <c:v>0.966667</c:v>
                </c:pt>
                <c:pt idx="2">
                  <c:v>0.934762</c:v>
                </c:pt>
                <c:pt idx="3">
                  <c:v>0.976667</c:v>
                </c:pt>
                <c:pt idx="4">
                  <c:v>0.960952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C185E-7019-4AE0-95E7-2187A29A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BC8D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BC8DD"/>
                </a:solidFill>
                <a:latin typeface="Arial"/>
                <a:ea typeface="Arial"/>
                <a:cs typeface="Arial"/>
              </a:rPr>
              <a:t>PHÂN LOẠI CHỮ SỐ VIẾT TAY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2A240-399E-4AA1-9DE3-E64C1B87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 thực nghiệm NV2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7EF0D-7BEE-4C01-B625-F2C6E506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Logistic Regression · KNN · SVM · Random Forest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F090A-FCAC-48D6-AC3B-6E93F82D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C1D8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1D8E4"/>
                </a:solidFill>
                <a:latin typeface="Arial"/>
                <a:ea typeface="Arial"/>
                <a:cs typeface="Arial"/>
              </a:rPr>
              <a:t>42.000 ảnh gắn nhãn • Train / Validation / Test = 70 / 15 / 15</a:t>
            </a:r>
          </a:p>
        </p:txBody>
      </p:sp>
    </p:spTree>
    <p:extLst>
      <p:ext uri="{BB962C8B-B14F-4D97-AF65-F5344CB8AC3E}">
        <p14:creationId xmlns:p14="http://schemas.microsoft.com/office/powerpoint/2010/main" val="1642011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CBB15-CE08-41E0-8C66-88E197D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F45"/>
                </a:solidFill>
                <a:latin typeface="Arial"/>
                <a:ea typeface="Arial"/>
                <a:cs typeface="Arial"/>
              </a:rPr>
              <a:t>Dữ liệu và cách chia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BB99F-3132-47AC-88BD-9321EDABF8D7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905000"/>
                <a:gridCol w="6781800"/>
              </a:tblGrid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Tập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ảnh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Mục đích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29.400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Huấn luyện và cross-validation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6.300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So sánh và chọn mô hình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6.300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Đánh giá cuối sau khi chốt mô hình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84564-D83E-4775-937B-41EC358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Ảnh 28×28 → vector 784 chiều; pixel chia 255; seed 42. Không augmentation trong lần so sánh này.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0552F-C88D-4664-8E6D-06B87C9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2"/>
                </a:solidFill>
                <a:latin typeface="Arial"/>
                <a:ea typeface="Arial"/>
                <a:cs typeface="Arial"/>
              </a:rPr>
              <a:t>test.csv của Kaggle không có nhãn. Chia ba tập từ train.csv có nhãn; lưu chung cho A và C.</a:t>
            </a:r>
          </a:p>
        </p:txBody>
      </p:sp>
    </p:spTree>
    <p:extLst>
      <p:ext uri="{BB962C8B-B14F-4D97-AF65-F5344CB8AC3E}">
        <p14:creationId xmlns:p14="http://schemas.microsoft.com/office/powerpoint/2010/main" val="568000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B1293-7EF4-49C6-B0B2-FA4F9E76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F45"/>
                </a:solidFill>
                <a:latin typeface="Arial"/>
                <a:ea typeface="Arial"/>
                <a:cs typeface="Arial"/>
              </a:rPr>
              <a:t>Cấu hình được chọn bằng GridSearchCV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016EF-AE84-4898-A0AD-05200AE57A30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đã chọn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{C:0.1}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KNN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{n_neighbors:3,weights:distance}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SVM linear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{C:0.1}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SVM RBF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{C:5,gamma:scale}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{max_depth:null,max_features:sqrt}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EEE1B-7920-4624-B8F6-0698618D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3 fold trên 6.000 ảnh train gốc. Mỗi cấu hình tốt nhất được fit lại trên toàn bộ 29.400 ảnh train.</a:t>
            </a:r>
          </a:p>
        </p:txBody>
      </p:sp>
    </p:spTree>
    <p:extLst>
      <p:ext uri="{BB962C8B-B14F-4D97-AF65-F5344CB8AC3E}">
        <p14:creationId xmlns:p14="http://schemas.microsoft.com/office/powerpoint/2010/main" val="1196311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E9C7D-48E3-4267-A6A4-84263412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F45"/>
                </a:solidFill>
                <a:latin typeface="Arial"/>
                <a:ea typeface="Arial"/>
                <a:cs typeface="Arial"/>
              </a:rPr>
              <a:t>Accuracy trên validation và test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1683479-689E-423A-8CF2-4B11868C0DB8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69baa0da39406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137F6-91D8-4320-A11E-9C703BAA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Chọn trước khi mở test: SVM RBF. Không dùng test để chỉnh lại tham số.</a:t>
            </a:r>
          </a:p>
        </p:txBody>
      </p:sp>
    </p:spTree>
    <p:extLst>
      <p:ext uri="{BB962C8B-B14F-4D97-AF65-F5344CB8AC3E}">
        <p14:creationId xmlns:p14="http://schemas.microsoft.com/office/powerpoint/2010/main" val="1946743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AFBFF-2436-44A5-9F2C-6DB41CB3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F45"/>
                </a:solidFill>
                <a:latin typeface="Arial"/>
                <a:ea typeface="Arial"/>
                <a:cs typeface="Arial"/>
              </a:rPr>
              <a:t>Chỉ số đánh giá trên 6.300 ảnh test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2C29D-35C4-4091-BEF5-4900666620FF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933575"/>
                <a:gridCol w="1933575"/>
                <a:gridCol w="1933575"/>
                <a:gridCol w="1933575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91.43%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0.9134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0.9130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0.9131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KNN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96.67%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0.9670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0.9661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0.9663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SVM linear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93.48%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0.9343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0.9337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0.9338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SVM RBF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97.67%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0.9765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0.9764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0.9765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96.10%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0.9606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0.9605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0.9605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2AE84-98E5-4BAD-87BF-154F5770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Precision, Recall và F1 dùng macro average. Báo cáo CSV kèm chỉ số từng chữ số, support và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2054121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D36F2-7A1E-4677-B7DE-4843DE5F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F45"/>
                </a:solidFill>
                <a:latin typeface="Arial"/>
                <a:ea typeface="Arial"/>
                <a:cs typeface="Arial"/>
              </a:rPr>
              <a:t>Thời gian và kích thước mô hình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512A9-195A-4A94-9CDA-AE51D2FBFA0A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190750"/>
                <a:gridCol w="3048000"/>
                <a:gridCol w="2400300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Fit (giây)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 test (giây)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File (MiB)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3.685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0.004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0.03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KNN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0.008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3.750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8.20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SVM linear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25.622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7.206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2.58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SVM RBF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34.120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17.546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3.28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16.448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0.144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18.65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B70E4-B866-4232-8977-5AA95BCF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Fit không gồm thời gian tìm tham số. Predict đo cả tập test, không gồm tải model. File joblib nén mức 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3AD9F-B629-49C7-A508-23F4E648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2"/>
                </a:solidFill>
                <a:latin typeface="Arial"/>
                <a:ea typeface="Arial"/>
                <a:cs typeface="Arial"/>
              </a:rPr>
              <a:t>KNN chủ yếu lưu mẫu khi fit; chi phí nằm ở dự đoán. Thời gian phụ thuộc máy và số luồng.</a:t>
            </a:r>
          </a:p>
        </p:txBody>
      </p:sp>
    </p:spTree>
    <p:extLst>
      <p:ext uri="{BB962C8B-B14F-4D97-AF65-F5344CB8AC3E}">
        <p14:creationId xmlns:p14="http://schemas.microsoft.com/office/powerpoint/2010/main" val="689779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11A9F-9B63-4B1F-9748-B5A64BF1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F45"/>
                </a:solidFill>
                <a:latin typeface="Arial"/>
                <a:ea typeface="Arial"/>
                <a:cs typeface="Arial"/>
              </a:rPr>
              <a:t>Confusion matrix — SVM RBF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0DCBA-B34D-4B24-9CB2-EE65A9737F39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933450"/>
                <a:gridCol w="933450"/>
                <a:gridCol w="933450"/>
                <a:gridCol w="933450"/>
                <a:gridCol w="933450"/>
                <a:gridCol w="933450"/>
                <a:gridCol w="933450"/>
                <a:gridCol w="933450"/>
                <a:gridCol w="933450"/>
                <a:gridCol w="933450"/>
              </a:tblGrid>
              <a:tr h="381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Thật / Đoán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T w="6668">
                      <a:solidFill>
                        <a:srgbClr val="D9E2E8"/>
                      </a:solidFill>
                      <a:prstDash val="solid"/>
                    </a:lnT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163E5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609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697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616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633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598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555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616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647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586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EFF4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9E2E8"/>
                      </a:solidFill>
                      <a:prstDash val="solid"/>
                    </a:lnL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044"/>
                          </a:solidFill>
                          <a:latin typeface="Arial"/>
                          <a:ea typeface="Arial"/>
                          <a:cs typeface="Arial"/>
                        </a:rPr>
                        <a:t>596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9E2E8"/>
                      </a:solidFill>
                      <a:prstDash val="solid"/>
                    </a:lnR>
                    <a:lnB w="6668">
                      <a:solidFill>
                        <a:srgbClr val="D9E2E8"/>
                      </a:solidFill>
                      <a:prstDash val="solid"/>
                    </a:lnB>
                    <a:solidFill>
                      <a:srgbClr val="D2E8F2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0CF96-8FA0-4F84-8B84-01C0107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147 ảnh sai / 6.300 ảnh test. Hàng = nhãn thật, cột = dự đoán.</a:t>
            </a:r>
          </a:p>
        </p:txBody>
      </p:sp>
    </p:spTree>
    <p:extLst>
      <p:ext uri="{BB962C8B-B14F-4D97-AF65-F5344CB8AC3E}">
        <p14:creationId xmlns:p14="http://schemas.microsoft.com/office/powerpoint/2010/main" val="1120192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9AF52-9A25-4DA1-B9A0-43B4521C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F45"/>
                </a:solidFill>
                <a:latin typeface="Arial"/>
                <a:ea typeface="Arial"/>
                <a:cs typeface="Arial"/>
              </a:rPr>
              <a:t>Ảnh dự đoán sai — SVM RBF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65185-279E-4B54-92E4-97AEAD32F4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7967f47074081"/>
          <a:stretch xmlns:a="http://schemas.openxmlformats.org/drawingml/2006/main"/>
        </p:blipFill>
        <p:spPr>
          <a:xfrm xmlns:a="http://schemas.openxmlformats.org/drawingml/2006/main">
            <a:off x="609600" y="1400175"/>
            <a:ext cx="7239000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40BA5-24D3-4E20-920A-8C07C9C1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3E5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E56"/>
                </a:solidFill>
                <a:latin typeface="Arial"/>
                <a:ea typeface="Arial"/>
                <a:cs typeface="Arial"/>
              </a:rPr>
              <a:t>Cặp nhầm thường gặp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57C2D-D949-437D-A3F0-9EA9E3AD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9 → 7: 8 ảnh</a:t>
            </a:r>
          </a:p>
          <a:p xmlns:a="http://schemas.openxmlformats.org/drawingml/2006/main">
            <a: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9 → 4: 8 ảnh</a:t>
            </a:r>
          </a:p>
          <a:p xmlns:a="http://schemas.openxmlformats.org/drawingml/2006/main">
            <a:pPr>
              <a:defRPr sz="21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4 → 9: 8 ảnh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36AA0-9353-4F5C-BBA9-8C994142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Nét viết không rõ hoặc biến dạng có thể khiến hình dáng gần chữ số khác. Đây là giả thuyết từ ảnh mẫu.</a:t>
            </a:r>
          </a:p>
        </p:txBody>
      </p:sp>
    </p:spTree>
    <p:extLst>
      <p:ext uri="{BB962C8B-B14F-4D97-AF65-F5344CB8AC3E}">
        <p14:creationId xmlns:p14="http://schemas.microsoft.com/office/powerpoint/2010/main" val="604807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30BBA-5E66-44AD-AD02-B6D1A96E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F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F45"/>
                </a:solidFill>
                <a:latin typeface="Arial"/>
                <a:ea typeface="Arial"/>
                <a:cs typeface="Arial"/>
              </a:rPr>
              <a:t>Kết luận và bàn giao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64902-09A5-4086-8DB7-9C078135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658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586"/>
                </a:solidFill>
                <a:latin typeface="Arial"/>
                <a:ea typeface="Arial"/>
                <a:cs typeface="Arial"/>
              </a:rPr>
              <a:t>SVM RBF: 97.67% accuracy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DA2DC-96F5-4B35-935A-98BE16BF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Đã lưu 5 mô hình, bảng CV, thời gian, chỉ số từng lớp, confusion matrix và ảnh sai.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CBA11-72E2-4F6A-BF64-C900BFE1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NV1: dùng bộ chia chung và tiếp nhận model cho ứng dụng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D97F9-DAC8-4CAD-9BAE-02BC102C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NV3: bàn giao CNN và dự đoán trên đúng tập test để bổ sung đánh giá toàn nhóm.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120EB-E70C-4EFC-9C82-BBC8515D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3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2"/>
                </a:solidFill>
                <a:latin typeface="Arial"/>
                <a:ea typeface="Arial"/>
                <a:cs typeface="Arial"/>
              </a:rPr>
              <a:t>Kết luận hiện tại chỉ áp dụng cho các mô hình cổ điển; chưa có kết quả CNN.</a:t>
            </a:r>
          </a:p>
        </p:txBody>
      </p:sp>
    </p:spTree>
    <p:extLst>
      <p:ext uri="{BB962C8B-B14F-4D97-AF65-F5344CB8AC3E}">
        <p14:creationId xmlns:p14="http://schemas.microsoft.com/office/powerpoint/2010/main" val="460579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2026-10-17T15:43:20.3980000Z</dcterms:created>
  <dcterms:modified xsi:type="dcterms:W3CDTF">2026-10-17T15:43:20.3980000Z</dcterms:modified>
</coreProperties>
</file>